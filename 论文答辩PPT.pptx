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事实一致性准确率</c:v>
                </c:pt>
              </c:strCache>
            </c:strRef>
          </c:tx>
          <c:spPr>
            <a:solidFill>
              <a:srgbClr val="E85D04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200" b="0" i="0" u="none" strike="noStrike" kern="1200" baseline="0">
                    <a:solidFill>
                      <a:srgbClr val="1A1A2E"/>
                    </a:solidFill>
                    <a:latin typeface="Arial" panose="020B060402020209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4"/>
                <c:pt idx="0">
                  <c:v>B0仅LLM</c:v>
                </c:pt>
                <c:pt idx="1">
                  <c:v>B1仅图谱</c:v>
                </c:pt>
                <c:pt idx="2">
                  <c:v>B2仅RAG</c:v>
                </c:pt>
                <c:pt idx="3">
                  <c:v>B3全协同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52.3</c:v>
                </c:pt>
                <c:pt idx="1">
                  <c:v>85.7</c:v>
                </c:pt>
                <c:pt idx="2">
                  <c:v>68.4</c:v>
                </c:pt>
                <c:pt idx="3">
                  <c:v>91.2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rgbClr val="1A1A2E"/>
                </a:solidFill>
                <a:latin typeface="Arial" panose="020B060402020209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6350" cap="flat" cmpd="sng" algn="ctr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rgbClr val="1A1A2E"/>
                </a:solidFill>
                <a:latin typeface="Arial" panose="020B060402020209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0f0eddf3-e991-4bae-ae72-8f9f044d5407}"/>
      </c:ext>
    </c:extLst>
  </c:chart>
  <c:spPr>
    <a:solidFill>
      <a:srgbClr val="FFFFFF"/>
    </a:solidFill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0" y="1645920"/>
            <a:ext cx="3657600" cy="0"/>
          </a:xfrm>
          <a:prstGeom prst="line">
            <a:avLst/>
          </a:prstGeom>
          <a:noFill/>
          <a:ln w="38100">
            <a:solidFill>
              <a:srgbClr val="E85D0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3200" b="1" kern="0" spc="1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基于知识图谱与向量检索协同的地震应急问答方法研究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2000" kern="0" spc="100" dirty="0">
                <a:solidFill>
                  <a:srgbClr val="E85D04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硕士论文答辩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答辩人：刘一江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023360"/>
            <a:ext cx="8229600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导师：何高奇 教授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华东师范大学 计算机学院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2026年3月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3600" b="1" kern="0" spc="250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目录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371600" y="1371600"/>
            <a:ext cx="640080" cy="640080"/>
          </a:xfrm>
          <a:prstGeom prst="ellipse">
            <a:avLst/>
          </a:prstGeom>
          <a:solidFill>
            <a:srgbClr val="E85D04"/>
          </a:solidFill>
        </p:spPr>
      </p:sp>
      <p:sp>
        <p:nvSpPr>
          <p:cNvPr id="4" name="Text 2"/>
          <p:cNvSpPr/>
          <p:nvPr/>
        </p:nvSpPr>
        <p:spPr>
          <a:xfrm>
            <a:off x="1371600" y="1371600"/>
            <a:ext cx="640080" cy="64008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286000" y="1417320"/>
            <a:ext cx="3657600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研究背景与问题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286000" y="1783080"/>
            <a:ext cx="365760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地震应急问答现状分析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371600" y="2331720"/>
            <a:ext cx="640080" cy="640080"/>
          </a:xfrm>
          <a:prstGeom prst="ellipse">
            <a:avLst/>
          </a:prstGeom>
          <a:solidFill>
            <a:srgbClr val="E85D04"/>
          </a:solidFill>
        </p:spPr>
      </p:sp>
      <p:sp>
        <p:nvSpPr>
          <p:cNvPr id="8" name="Text 6"/>
          <p:cNvSpPr/>
          <p:nvPr/>
        </p:nvSpPr>
        <p:spPr>
          <a:xfrm>
            <a:off x="1371600" y="2331720"/>
            <a:ext cx="640080" cy="64008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286000" y="2377440"/>
            <a:ext cx="3657600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核心创新点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286000" y="2743200"/>
            <a:ext cx="365760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三大技术创新方案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371600" y="3291840"/>
            <a:ext cx="640080" cy="640080"/>
          </a:xfrm>
          <a:prstGeom prst="ellipse">
            <a:avLst/>
          </a:prstGeom>
          <a:solidFill>
            <a:srgbClr val="E85D04"/>
          </a:solidFill>
        </p:spPr>
      </p:sp>
      <p:sp>
        <p:nvSpPr>
          <p:cNvPr id="12" name="Text 10"/>
          <p:cNvSpPr/>
          <p:nvPr/>
        </p:nvSpPr>
        <p:spPr>
          <a:xfrm>
            <a:off x="1371600" y="3291840"/>
            <a:ext cx="640080" cy="64008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286000" y="3337560"/>
            <a:ext cx="3657600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系统实现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286000" y="3703320"/>
            <a:ext cx="365760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技术架构与实现细节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1371600" y="4251960"/>
            <a:ext cx="640080" cy="640080"/>
          </a:xfrm>
          <a:prstGeom prst="ellipse">
            <a:avLst/>
          </a:prstGeom>
          <a:solidFill>
            <a:srgbClr val="E85D04"/>
          </a:solidFill>
        </p:spPr>
      </p:sp>
      <p:sp>
        <p:nvSpPr>
          <p:cNvPr id="16" name="Text 14"/>
          <p:cNvSpPr/>
          <p:nvPr/>
        </p:nvSpPr>
        <p:spPr>
          <a:xfrm>
            <a:off x="1371600" y="4251960"/>
            <a:ext cx="640080" cy="64008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286000" y="4297680"/>
            <a:ext cx="3657600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实验验证与结论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2286000" y="4663440"/>
            <a:ext cx="365760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实验结果与工作总结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3200" b="1" kern="0" spc="150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研究背景与问题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548640" cy="548640"/>
          </a:xfrm>
          <a:prstGeom prst="ellipse">
            <a:avLst/>
          </a:prstGeom>
          <a:solidFill>
            <a:srgbClr val="2E5A8C"/>
          </a:solidFill>
        </p:spPr>
      </p:sp>
      <p:sp>
        <p:nvSpPr>
          <p:cNvPr id="4" name="Text 2"/>
          <p:cNvSpPr/>
          <p:nvPr/>
        </p:nvSpPr>
        <p:spPr>
          <a:xfrm>
            <a:off x="731520" y="1188720"/>
            <a:ext cx="548640" cy="5486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63040" y="1280160"/>
            <a:ext cx="3200400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传统方法响应慢、准确率低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2194560"/>
            <a:ext cx="548640" cy="548640"/>
          </a:xfrm>
          <a:prstGeom prst="ellipse">
            <a:avLst/>
          </a:prstGeom>
          <a:solidFill>
            <a:srgbClr val="2E5A8C"/>
          </a:solidFill>
        </p:spPr>
      </p:sp>
      <p:sp>
        <p:nvSpPr>
          <p:cNvPr id="7" name="Text 5"/>
          <p:cNvSpPr/>
          <p:nvPr/>
        </p:nvSpPr>
        <p:spPr>
          <a:xfrm>
            <a:off x="731520" y="2194560"/>
            <a:ext cx="548640" cy="5486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❌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463040" y="2286000"/>
            <a:ext cx="3200400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大模型存在事实幻觉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1520" y="3200400"/>
            <a:ext cx="548640" cy="548640"/>
          </a:xfrm>
          <a:prstGeom prst="ellipse">
            <a:avLst/>
          </a:prstGeom>
          <a:solidFill>
            <a:srgbClr val="2E5A8C"/>
          </a:solidFill>
        </p:spPr>
      </p:sp>
      <p:sp>
        <p:nvSpPr>
          <p:cNvPr id="10" name="Text 8"/>
          <p:cNvSpPr/>
          <p:nvPr/>
        </p:nvSpPr>
        <p:spPr>
          <a:xfrm>
            <a:off x="731520" y="3200400"/>
            <a:ext cx="548640" cy="5486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📚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463040" y="3291840"/>
            <a:ext cx="3200400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单一知识源覆盖不足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029200" y="1097280"/>
            <a:ext cx="3474720" cy="3200400"/>
          </a:xfrm>
          <a:prstGeom prst="roundRect">
            <a:avLst>
              <a:gd name="adj" fmla="val 4286"/>
            </a:avLst>
          </a:prstGeom>
          <a:solidFill>
            <a:srgbClr val="F0F4F8"/>
          </a:solidFill>
        </p:spPr>
      </p:sp>
      <p:sp>
        <p:nvSpPr>
          <p:cNvPr id="13" name="Text 11"/>
          <p:cNvSpPr/>
          <p:nvPr/>
        </p:nvSpPr>
        <p:spPr>
          <a:xfrm>
            <a:off x="5212080" y="1280160"/>
            <a:ext cx="3108960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E85D0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解决方案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212080" y="1828800"/>
            <a:ext cx="3108960" cy="18288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知识图谱 + RAG协同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结构化事实 + 语义检索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提升准确性与完整性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3200" b="1" kern="0" spc="150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核心创新点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2377440" cy="274320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effectLst>
            <a:outerShdw blurRad="63500" dist="254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188720"/>
            <a:ext cx="2377440" cy="137160"/>
          </a:xfrm>
          <a:prstGeom prst="rect">
            <a:avLst/>
          </a:prstGeom>
          <a:solidFill>
            <a:srgbClr val="E85D04"/>
          </a:solidFill>
        </p:spPr>
      </p:sp>
      <p:sp>
        <p:nvSpPr>
          <p:cNvPr id="5" name="Text 3"/>
          <p:cNvSpPr/>
          <p:nvPr/>
        </p:nvSpPr>
        <p:spPr>
          <a:xfrm>
            <a:off x="731520" y="1554480"/>
            <a:ext cx="2377440" cy="5486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914400" y="2194560"/>
            <a:ext cx="2011680" cy="5486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知识图谱与RAG协同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834640"/>
            <a:ext cx="2011680" cy="7315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结构化与语义检索融合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83280" y="1188720"/>
            <a:ext cx="2377440" cy="274320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effectLst>
            <a:outerShdw blurRad="63500" dist="254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383280" y="1188720"/>
            <a:ext cx="2377440" cy="137160"/>
          </a:xfrm>
          <a:prstGeom prst="rect">
            <a:avLst/>
          </a:prstGeom>
          <a:solidFill>
            <a:srgbClr val="E85D04"/>
          </a:solidFill>
        </p:spPr>
      </p:sp>
      <p:sp>
        <p:nvSpPr>
          <p:cNvPr id="10" name="Text 8"/>
          <p:cNvSpPr/>
          <p:nvPr/>
        </p:nvSpPr>
        <p:spPr>
          <a:xfrm>
            <a:off x="3383280" y="1554480"/>
            <a:ext cx="2377440" cy="5486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3566160" y="2194560"/>
            <a:ext cx="2011680" cy="5486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左侧截断保尾策略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566160" y="2834640"/>
            <a:ext cx="2011680" cy="7315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优化提示词结构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035040" y="1188720"/>
            <a:ext cx="2377440" cy="274320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effectLst>
            <a:outerShdw blurRad="63500" dist="254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35040" y="1188720"/>
            <a:ext cx="2377440" cy="137160"/>
          </a:xfrm>
          <a:prstGeom prst="rect">
            <a:avLst/>
          </a:prstGeom>
          <a:solidFill>
            <a:srgbClr val="E85D04"/>
          </a:solidFill>
        </p:spPr>
      </p:sp>
      <p:sp>
        <p:nvSpPr>
          <p:cNvPr id="15" name="Text 13"/>
          <p:cNvSpPr/>
          <p:nvPr/>
        </p:nvSpPr>
        <p:spPr>
          <a:xfrm>
            <a:off x="6035040" y="1554480"/>
            <a:ext cx="2377440" cy="5486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6217920" y="2194560"/>
            <a:ext cx="2011680" cy="5486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完整离线部署方案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17920" y="2834640"/>
            <a:ext cx="2011680" cy="7315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端到端技术栈实现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800" b="1" kern="0" spc="150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创新点1 - 知识图谱与RAG协同机制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840480" cy="1828800"/>
          </a:xfrm>
          <a:prstGeom prst="roundRect">
            <a:avLst>
              <a:gd name="adj" fmla="val 5000"/>
            </a:avLst>
          </a:prstGeom>
          <a:solidFill>
            <a:srgbClr val="F0F4F8"/>
          </a:solidFill>
        </p:spPr>
      </p:sp>
      <p:sp>
        <p:nvSpPr>
          <p:cNvPr id="4" name="Text 2"/>
          <p:cNvSpPr/>
          <p:nvPr/>
        </p:nvSpPr>
        <p:spPr>
          <a:xfrm>
            <a:off x="640080" y="1280160"/>
            <a:ext cx="3474720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E85D0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核心思想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3474720" cy="109728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知识图谱提供结构化事实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RAG补充语义表述能力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双源协同提升回答质量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754880" y="1097280"/>
            <a:ext cx="1463040" cy="548640"/>
          </a:xfrm>
          <a:prstGeom prst="roundRect">
            <a:avLst>
              <a:gd name="adj" fmla="val 16667"/>
            </a:avLst>
          </a:prstGeom>
          <a:solidFill>
            <a:srgbClr val="1E3A5F"/>
          </a:solidFill>
        </p:spPr>
      </p:sp>
      <p:sp>
        <p:nvSpPr>
          <p:cNvPr id="7" name="Text 5"/>
          <p:cNvSpPr/>
          <p:nvPr/>
        </p:nvSpPr>
        <p:spPr>
          <a:xfrm>
            <a:off x="4754880" y="1097280"/>
            <a:ext cx="1463040" cy="5486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用户问题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91840" y="1920240"/>
            <a:ext cx="1463040" cy="548640"/>
          </a:xfrm>
          <a:prstGeom prst="roundRect">
            <a:avLst>
              <a:gd name="adj" fmla="val 16667"/>
            </a:avLst>
          </a:prstGeom>
          <a:solidFill>
            <a:srgbClr val="2E5A8C"/>
          </a:solidFill>
        </p:spPr>
      </p:sp>
      <p:sp>
        <p:nvSpPr>
          <p:cNvPr id="9" name="Text 7"/>
          <p:cNvSpPr/>
          <p:nvPr/>
        </p:nvSpPr>
        <p:spPr>
          <a:xfrm>
            <a:off x="3291840" y="1920240"/>
            <a:ext cx="1463040" cy="5486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图谱查询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1920240"/>
            <a:ext cx="1463040" cy="548640"/>
          </a:xfrm>
          <a:prstGeom prst="roundRect">
            <a:avLst>
              <a:gd name="adj" fmla="val 16667"/>
            </a:avLst>
          </a:prstGeom>
          <a:solidFill>
            <a:srgbClr val="2E5A8C"/>
          </a:solidFill>
        </p:spPr>
      </p:sp>
      <p:sp>
        <p:nvSpPr>
          <p:cNvPr id="11" name="Text 9"/>
          <p:cNvSpPr/>
          <p:nvPr/>
        </p:nvSpPr>
        <p:spPr>
          <a:xfrm>
            <a:off x="6217920" y="1920240"/>
            <a:ext cx="1463040" cy="5486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向量检索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0" y="2743200"/>
            <a:ext cx="1463040" cy="548640"/>
          </a:xfrm>
          <a:prstGeom prst="roundRect">
            <a:avLst>
              <a:gd name="adj" fmla="val 16667"/>
            </a:avLst>
          </a:prstGeom>
          <a:solidFill>
            <a:srgbClr val="E85D04"/>
          </a:solidFill>
        </p:spPr>
      </p:sp>
      <p:sp>
        <p:nvSpPr>
          <p:cNvPr id="13" name="Text 11"/>
          <p:cNvSpPr/>
          <p:nvPr/>
        </p:nvSpPr>
        <p:spPr>
          <a:xfrm>
            <a:off x="4754880" y="2743200"/>
            <a:ext cx="1463040" cy="5486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融合生成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840480"/>
            <a:ext cx="8229600" cy="548640"/>
          </a:xfrm>
          <a:prstGeom prst="roundRect">
            <a:avLst>
              <a:gd name="adj" fmla="val 16667"/>
            </a:avLst>
          </a:prstGeom>
          <a:solidFill>
            <a:srgbClr val="1E3A5F"/>
          </a:solidFill>
        </p:spPr>
      </p:sp>
      <p:sp>
        <p:nvSpPr>
          <p:cNvPr id="15" name="Text 13"/>
          <p:cNvSpPr/>
          <p:nvPr/>
        </p:nvSpPr>
        <p:spPr>
          <a:xfrm>
            <a:off x="457200" y="3840480"/>
            <a:ext cx="8229600" cy="5486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关键数据：图谱提供结构化事实，RAG补充语义表述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800" b="1" kern="0" spc="150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创新点2 - 左侧截断保尾策略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840480" cy="3200400"/>
          </a:xfrm>
          <a:prstGeom prst="roundRect">
            <a:avLst>
              <a:gd name="adj" fmla="val 2857"/>
            </a:avLst>
          </a:prstGeom>
          <a:solidFill>
            <a:srgbClr val="FEE2E2"/>
          </a:solidFill>
        </p:spPr>
      </p:sp>
      <p:sp>
        <p:nvSpPr>
          <p:cNvPr id="4" name="Text 2"/>
          <p:cNvSpPr/>
          <p:nvPr/>
        </p:nvSpPr>
        <p:spPr>
          <a:xfrm>
            <a:off x="640080" y="1280160"/>
            <a:ext cx="3474720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DC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传统右侧截断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3474720" cy="18288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用户问题：地震发生时如何自救？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上下文：[大量背景知识]...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截断后：地震发生时如[截断]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问题：核心问题被截掉！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011680" y="3474720"/>
            <a:ext cx="731520" cy="731520"/>
          </a:xfrm>
          <a:prstGeom prst="ellipse">
            <a:avLst/>
          </a:prstGeom>
          <a:solidFill>
            <a:srgbClr val="DC2626"/>
          </a:solidFill>
        </p:spPr>
      </p:sp>
      <p:sp>
        <p:nvSpPr>
          <p:cNvPr id="7" name="Text 5"/>
          <p:cNvSpPr/>
          <p:nvPr/>
        </p:nvSpPr>
        <p:spPr>
          <a:xfrm>
            <a:off x="2011680" y="3474720"/>
            <a:ext cx="731520" cy="7315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3200" dirty="0">
                <a:solidFill>
                  <a:srgbClr val="FFFFFF"/>
                </a:solidFill>
              </a:rPr>
              <a:t>❌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4846320" y="1097280"/>
            <a:ext cx="3840480" cy="3200400"/>
          </a:xfrm>
          <a:prstGeom prst="roundRect">
            <a:avLst>
              <a:gd name="adj" fmla="val 2857"/>
            </a:avLst>
          </a:prstGeom>
          <a:solidFill>
            <a:srgbClr val="D1FAE5"/>
          </a:solidFill>
        </p:spPr>
      </p:sp>
      <p:sp>
        <p:nvSpPr>
          <p:cNvPr id="9" name="Text 7"/>
          <p:cNvSpPr/>
          <p:nvPr/>
        </p:nvSpPr>
        <p:spPr>
          <a:xfrm>
            <a:off x="5029200" y="1280160"/>
            <a:ext cx="3474720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596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左侧截断保尾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029200" y="1828800"/>
            <a:ext cx="3474720" cy="18288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用户问题：地震发生时如何自救？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上下文：[大量背景知识]...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截断后：[截断]...如何自救？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优势：核心问题始终保留！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0" y="3474720"/>
            <a:ext cx="731520" cy="731520"/>
          </a:xfrm>
          <a:prstGeom prst="ellipse">
            <a:avLst/>
          </a:prstGeom>
          <a:solidFill>
            <a:srgbClr val="059669"/>
          </a:solidFill>
        </p:spPr>
      </p:sp>
      <p:sp>
        <p:nvSpPr>
          <p:cNvPr id="12" name="Text 10"/>
          <p:cNvSpPr/>
          <p:nvPr/>
        </p:nvSpPr>
        <p:spPr>
          <a:xfrm>
            <a:off x="6400800" y="3474720"/>
            <a:ext cx="731520" cy="7315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4000" dirty="0">
                <a:solidFill>
                  <a:srgbClr val="FFFFFF"/>
                </a:solidFill>
              </a:rPr>
              <a:t>✓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457200" y="4480560"/>
            <a:ext cx="8229600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核心策略：将用户问题固定置于提示末尾，确保上下文截断时问题信息不丢失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800" b="1" kern="0" spc="150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创新点3 - 完整离线部署方案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85800" y="1188720"/>
            <a:ext cx="22860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effectLst>
            <a:outerShdw blurRad="50800" dist="127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85800" y="1188720"/>
            <a:ext cx="73152" cy="1371600"/>
          </a:xfrm>
          <a:prstGeom prst="rect">
            <a:avLst/>
          </a:prstGeom>
          <a:solidFill>
            <a:srgbClr val="1E3A5F"/>
          </a:solidFill>
        </p:spPr>
      </p:sp>
      <p:sp>
        <p:nvSpPr>
          <p:cNvPr id="5" name="Text 3"/>
          <p:cNvSpPr/>
          <p:nvPr/>
        </p:nvSpPr>
        <p:spPr>
          <a:xfrm>
            <a:off x="868680" y="1463040"/>
            <a:ext cx="1920240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Neo4j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" y="1965960"/>
            <a:ext cx="1920240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知识图谱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429000" y="1188720"/>
            <a:ext cx="22860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effectLst>
            <a:outerShdw blurRad="50800" dist="127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429000" y="1188720"/>
            <a:ext cx="73152" cy="1371600"/>
          </a:xfrm>
          <a:prstGeom prst="rect">
            <a:avLst/>
          </a:prstGeom>
          <a:solidFill>
            <a:srgbClr val="2E5A8C"/>
          </a:solidFill>
        </p:spPr>
      </p:sp>
      <p:sp>
        <p:nvSpPr>
          <p:cNvPr id="9" name="Text 7"/>
          <p:cNvSpPr/>
          <p:nvPr/>
        </p:nvSpPr>
        <p:spPr>
          <a:xfrm>
            <a:off x="3611880" y="1463040"/>
            <a:ext cx="1920240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5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Milvus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611880" y="1965960"/>
            <a:ext cx="1920240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向量库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72200" y="1188720"/>
            <a:ext cx="22860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effectLst>
            <a:outerShdw blurRad="50800" dist="127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72200" y="1188720"/>
            <a:ext cx="73152" cy="1371600"/>
          </a:xfrm>
          <a:prstGeom prst="rect">
            <a:avLst/>
          </a:prstGeom>
          <a:solidFill>
            <a:srgbClr val="E85D04"/>
          </a:solidFill>
        </p:spPr>
      </p:sp>
      <p:sp>
        <p:nvSpPr>
          <p:cNvPr id="13" name="Text 11"/>
          <p:cNvSpPr/>
          <p:nvPr/>
        </p:nvSpPr>
        <p:spPr>
          <a:xfrm>
            <a:off x="6355080" y="1463040"/>
            <a:ext cx="1920240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5D0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Qwen1.5-1.8B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355080" y="1965960"/>
            <a:ext cx="1920240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+ LoRA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85800" y="2926080"/>
            <a:ext cx="22860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effectLst>
            <a:outerShdw blurRad="50800" dist="127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85800" y="2926080"/>
            <a:ext cx="73152" cy="1371600"/>
          </a:xfrm>
          <a:prstGeom prst="rect">
            <a:avLst/>
          </a:prstGeom>
          <a:solidFill>
            <a:srgbClr val="1E3A5F"/>
          </a:solidFill>
        </p:spPr>
      </p:sp>
      <p:sp>
        <p:nvSpPr>
          <p:cNvPr id="17" name="Text 15"/>
          <p:cNvSpPr/>
          <p:nvPr/>
        </p:nvSpPr>
        <p:spPr>
          <a:xfrm>
            <a:off x="868680" y="3200400"/>
            <a:ext cx="1920240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BGE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68680" y="3703320"/>
            <a:ext cx="1920240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嵌入模型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429000" y="2926080"/>
            <a:ext cx="22860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effectLst>
            <a:outerShdw blurRad="50800" dist="127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429000" y="2926080"/>
            <a:ext cx="73152" cy="1371600"/>
          </a:xfrm>
          <a:prstGeom prst="rect">
            <a:avLst/>
          </a:prstGeom>
          <a:solidFill>
            <a:srgbClr val="2E5A8C"/>
          </a:solidFill>
        </p:spPr>
      </p:sp>
      <p:sp>
        <p:nvSpPr>
          <p:cNvPr id="21" name="Text 19"/>
          <p:cNvSpPr/>
          <p:nvPr/>
        </p:nvSpPr>
        <p:spPr>
          <a:xfrm>
            <a:off x="3611880" y="3200400"/>
            <a:ext cx="1920240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5A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Flask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611880" y="3703320"/>
            <a:ext cx="1920240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后端服务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172200" y="2926080"/>
            <a:ext cx="22860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effectLst>
            <a:outerShdw blurRad="50800" dist="127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172200" y="2926080"/>
            <a:ext cx="73152" cy="1371600"/>
          </a:xfrm>
          <a:prstGeom prst="rect">
            <a:avLst/>
          </a:prstGeom>
          <a:solidFill>
            <a:srgbClr val="E85D04"/>
          </a:solidFill>
        </p:spPr>
      </p:sp>
      <p:sp>
        <p:nvSpPr>
          <p:cNvPr id="25" name="Text 23"/>
          <p:cNvSpPr/>
          <p:nvPr/>
        </p:nvSpPr>
        <p:spPr>
          <a:xfrm>
            <a:off x="6355080" y="3200400"/>
            <a:ext cx="1920240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5D0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Vue 3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355080" y="3703320"/>
            <a:ext cx="1920240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前端框架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3200" b="1" kern="0" spc="150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系统总体架构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828800" y="1097280"/>
            <a:ext cx="5486400" cy="731520"/>
          </a:xfrm>
          <a:prstGeom prst="roundRect">
            <a:avLst>
              <a:gd name="adj" fmla="val 12500"/>
            </a:avLst>
          </a:prstGeom>
          <a:solidFill>
            <a:srgbClr val="1E3A5F"/>
          </a:solidFill>
          <a:effectLst>
            <a:outerShdw blurRad="63500" dist="25400" dir="16200000" algn="bl" rotWithShape="0">
              <a:srgbClr val="000000">
                <a:alpha val="2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828800" y="1097280"/>
            <a:ext cx="2743200" cy="7315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展示层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0" y="1097280"/>
            <a:ext cx="2743200" cy="7315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3 SPA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0" y="1828800"/>
            <a:ext cx="0" cy="457200"/>
          </a:xfrm>
          <a:prstGeom prst="line">
            <a:avLst/>
          </a:prstGeom>
          <a:noFill/>
          <a:ln w="25400">
            <a:solidFill>
              <a:srgbClr val="4A5568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1828800" y="2286000"/>
            <a:ext cx="5486400" cy="731520"/>
          </a:xfrm>
          <a:prstGeom prst="roundRect">
            <a:avLst>
              <a:gd name="adj" fmla="val 12500"/>
            </a:avLst>
          </a:prstGeom>
          <a:solidFill>
            <a:srgbClr val="2E5A8C"/>
          </a:solidFill>
          <a:effectLst>
            <a:outerShdw blurRad="63500" dist="25400" dir="16200000" algn="bl" rotWithShape="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828800" y="2286000"/>
            <a:ext cx="2743200" cy="7315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应用服务层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0" y="2286000"/>
            <a:ext cx="2743200" cy="7315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API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0" y="3017520"/>
            <a:ext cx="0" cy="457200"/>
          </a:xfrm>
          <a:prstGeom prst="line">
            <a:avLst/>
          </a:prstGeom>
          <a:noFill/>
          <a:ln w="25400">
            <a:solidFill>
              <a:srgbClr val="4A5568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1828800" y="3474720"/>
            <a:ext cx="5486400" cy="731520"/>
          </a:xfrm>
          <a:prstGeom prst="roundRect">
            <a:avLst>
              <a:gd name="adj" fmla="val 12500"/>
            </a:avLst>
          </a:prstGeom>
          <a:solidFill>
            <a:srgbClr val="E85D04"/>
          </a:solidFill>
          <a:effectLst>
            <a:outerShdw blurRad="63500" dist="25400" dir="162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828800" y="3474720"/>
            <a:ext cx="2743200" cy="7315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数据模型层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572000" y="3474720"/>
            <a:ext cx="2743200" cy="7315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 + Milvus + LLM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4389120"/>
            <a:ext cx="8229600" cy="548640"/>
          </a:xfrm>
          <a:prstGeom prst="roundRect">
            <a:avLst>
              <a:gd name="adj" fmla="val 16667"/>
            </a:avLst>
          </a:prstGeom>
          <a:solidFill>
            <a:srgbClr val="F0F4F8"/>
          </a:solidFill>
        </p:spPr>
      </p:sp>
      <p:sp>
        <p:nvSpPr>
          <p:cNvPr id="15" name="Text 13"/>
          <p:cNvSpPr/>
          <p:nvPr/>
        </p:nvSpPr>
        <p:spPr>
          <a:xfrm>
            <a:off x="457200" y="4389120"/>
            <a:ext cx="8229600" cy="5486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架构特点：前后端分离、微服务化设计、支持离线部署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3200" b="1" kern="0" spc="150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知识图谱模式设计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200400" y="1737360"/>
            <a:ext cx="2743200" cy="0"/>
          </a:xfrm>
          <a:prstGeom prst="line">
            <a:avLst/>
          </a:prstGeom>
          <a:noFill/>
          <a:ln w="25400">
            <a:solidFill>
              <a:srgbClr val="4A5568"/>
            </a:solidFill>
            <a:prstDash val="solid"/>
            <a:tailEnd type="triangle"/>
          </a:ln>
        </p:spPr>
      </p:sp>
      <p:sp>
        <p:nvSpPr>
          <p:cNvPr id="4" name="Text 2"/>
          <p:cNvSpPr/>
          <p:nvPr/>
        </p:nvSpPr>
        <p:spPr>
          <a:xfrm>
            <a:off x="3840480" y="1554480"/>
            <a:ext cx="146304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OCCURRED_IN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0" y="3566160"/>
            <a:ext cx="2743200" cy="0"/>
          </a:xfrm>
          <a:prstGeom prst="line">
            <a:avLst/>
          </a:prstGeom>
          <a:noFill/>
          <a:ln w="25400">
            <a:solidFill>
              <a:srgbClr val="4A5568"/>
            </a:solidFill>
            <a:prstDash val="solid"/>
            <a:tailEnd type="triangle"/>
          </a:ln>
        </p:spPr>
      </p:sp>
      <p:sp>
        <p:nvSpPr>
          <p:cNvPr id="6" name="Text 4"/>
          <p:cNvSpPr/>
          <p:nvPr/>
        </p:nvSpPr>
        <p:spPr>
          <a:xfrm>
            <a:off x="3840480" y="3383280"/>
            <a:ext cx="146304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HAS_STEP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0" y="1737360"/>
            <a:ext cx="2743200" cy="1828800"/>
          </a:xfrm>
          <a:prstGeom prst="line">
            <a:avLst/>
          </a:prstGeom>
          <a:noFill/>
          <a:ln w="25400">
            <a:solidFill>
              <a:srgbClr val="4A5568"/>
            </a:solidFill>
            <a:prstDash val="solid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3840480" y="2468880"/>
            <a:ext cx="1463040" cy="274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SUGGESTS_TOPIC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371600" y="1371600"/>
            <a:ext cx="1828800" cy="731520"/>
          </a:xfrm>
          <a:prstGeom prst="roundRect">
            <a:avLst>
              <a:gd name="adj" fmla="val 12500"/>
            </a:avLst>
          </a:prstGeom>
          <a:solidFill>
            <a:srgbClr val="1E3A5F"/>
          </a:solidFill>
          <a:effectLst>
            <a:outerShdw blurRad="50800" dist="25400" dir="162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371600" y="1371600"/>
            <a:ext cx="1828800" cy="41148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Earthquake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371600" y="1783080"/>
            <a:ext cx="1828800" cy="3200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地震事件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943600" y="1371600"/>
            <a:ext cx="1828800" cy="731520"/>
          </a:xfrm>
          <a:prstGeom prst="roundRect">
            <a:avLst>
              <a:gd name="adj" fmla="val 12500"/>
            </a:avLst>
          </a:prstGeom>
          <a:solidFill>
            <a:srgbClr val="2E5A8C"/>
          </a:solidFill>
          <a:effectLst>
            <a:outerShdw blurRad="50800" dist="25400" dir="162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943600" y="1371600"/>
            <a:ext cx="1828800" cy="41148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943600" y="1783080"/>
            <a:ext cx="1828800" cy="3200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区域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371600" y="3200400"/>
            <a:ext cx="1828800" cy="731520"/>
          </a:xfrm>
          <a:prstGeom prst="roundRect">
            <a:avLst>
              <a:gd name="adj" fmla="val 12500"/>
            </a:avLst>
          </a:prstGeom>
          <a:solidFill>
            <a:srgbClr val="E85D04"/>
          </a:solidFill>
          <a:effectLst>
            <a:outerShdw blurRad="50800" dist="25400" dir="162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371600" y="3200400"/>
            <a:ext cx="1828800" cy="41148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EmergencyTopic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371600" y="3611880"/>
            <a:ext cx="1828800" cy="3200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应急主题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943600" y="3200400"/>
            <a:ext cx="1828800" cy="731520"/>
          </a:xfrm>
          <a:prstGeom prst="roundRect">
            <a:avLst>
              <a:gd name="adj" fmla="val 12500"/>
            </a:avLst>
          </a:prstGeom>
          <a:solidFill>
            <a:srgbClr val="1E3A5F"/>
          </a:solidFill>
          <a:effectLst>
            <a:outerShdw blurRad="50800" dist="25400" dir="162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943600" y="3200400"/>
            <a:ext cx="1828800" cy="41148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GuidanceStep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943600" y="3611880"/>
            <a:ext cx="1828800" cy="3200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处置步骤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3200" b="1" kern="0" spc="150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RAG向量检索流程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1828800"/>
            <a:ext cx="1280160" cy="731520"/>
          </a:xfrm>
          <a:prstGeom prst="roundRect">
            <a:avLst>
              <a:gd name="adj" fmla="val 12500"/>
            </a:avLst>
          </a:prstGeom>
          <a:solidFill>
            <a:srgbClr val="1E3A5F"/>
          </a:solidFill>
          <a:effectLst>
            <a:outerShdw blurRad="38100" dist="12700" dir="16200000" algn="bl" rotWithShape="0">
              <a:srgbClr val="000000">
                <a:alpha val="2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365760" y="1828800"/>
            <a:ext cx="1280160" cy="7315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JSON文件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645920" y="2194560"/>
            <a:ext cx="182880" cy="0"/>
          </a:xfrm>
          <a:prstGeom prst="line">
            <a:avLst/>
          </a:prstGeom>
          <a:noFill/>
          <a:ln w="19050">
            <a:solidFill>
              <a:srgbClr val="4A5568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1828800" y="1828800"/>
            <a:ext cx="1280160" cy="731520"/>
          </a:xfrm>
          <a:prstGeom prst="roundRect">
            <a:avLst>
              <a:gd name="adj" fmla="val 12500"/>
            </a:avLst>
          </a:prstGeom>
          <a:solidFill>
            <a:srgbClr val="2E5A8C"/>
          </a:solidFill>
          <a:effectLst>
            <a:outerShdw blurRad="38100" dist="12700" dir="16200000" algn="bl" rotWithShape="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828800" y="1828800"/>
            <a:ext cx="1280160" cy="7315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Topic分块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108960" y="2194560"/>
            <a:ext cx="182880" cy="0"/>
          </a:xfrm>
          <a:prstGeom prst="line">
            <a:avLst/>
          </a:prstGeom>
          <a:noFill/>
          <a:ln w="19050">
            <a:solidFill>
              <a:srgbClr val="4A5568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3291840" y="1828800"/>
            <a:ext cx="1280160" cy="731520"/>
          </a:xfrm>
          <a:prstGeom prst="roundRect">
            <a:avLst>
              <a:gd name="adj" fmla="val 12500"/>
            </a:avLst>
          </a:prstGeom>
          <a:solidFill>
            <a:srgbClr val="E85D04"/>
          </a:solidFill>
          <a:effectLst>
            <a:outerShdw blurRad="38100" dist="12700" dir="162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91840" y="1828800"/>
            <a:ext cx="1280160" cy="7315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句向量编码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0" y="2194560"/>
            <a:ext cx="182880" cy="0"/>
          </a:xfrm>
          <a:prstGeom prst="line">
            <a:avLst/>
          </a:prstGeom>
          <a:noFill/>
          <a:ln w="19050">
            <a:solidFill>
              <a:srgbClr val="4A5568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754880" y="1828800"/>
            <a:ext cx="1280160" cy="731520"/>
          </a:xfrm>
          <a:prstGeom prst="roundRect">
            <a:avLst>
              <a:gd name="adj" fmla="val 12500"/>
            </a:avLst>
          </a:prstGeom>
          <a:solidFill>
            <a:srgbClr val="1E3A5F"/>
          </a:solidFill>
          <a:effectLst>
            <a:outerShdw blurRad="38100" dist="12700" dir="162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54880" y="1828800"/>
            <a:ext cx="1280160" cy="7315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向量矩阵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35040" y="2194560"/>
            <a:ext cx="182880" cy="0"/>
          </a:xfrm>
          <a:prstGeom prst="line">
            <a:avLst/>
          </a:prstGeom>
          <a:noFill/>
          <a:ln w="19050">
            <a:solidFill>
              <a:srgbClr val="4A5568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217920" y="1828800"/>
            <a:ext cx="1280160" cy="731520"/>
          </a:xfrm>
          <a:prstGeom prst="roundRect">
            <a:avLst>
              <a:gd name="adj" fmla="val 12500"/>
            </a:avLst>
          </a:prstGeom>
          <a:solidFill>
            <a:srgbClr val="2E5A8C"/>
          </a:solidFill>
          <a:effectLst>
            <a:outerShdw blurRad="38100" dist="12700" dir="162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217920" y="1828800"/>
            <a:ext cx="1280160" cy="7315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相似度计算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498080" y="2194560"/>
            <a:ext cx="182880" cy="0"/>
          </a:xfrm>
          <a:prstGeom prst="line">
            <a:avLst/>
          </a:prstGeom>
          <a:noFill/>
          <a:ln w="19050">
            <a:solidFill>
              <a:srgbClr val="4A5568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680960" y="1828800"/>
            <a:ext cx="1280160" cy="731520"/>
          </a:xfrm>
          <a:prstGeom prst="roundRect">
            <a:avLst>
              <a:gd name="adj" fmla="val 12500"/>
            </a:avLst>
          </a:prstGeom>
          <a:solidFill>
            <a:srgbClr val="E85D04"/>
          </a:solidFill>
          <a:effectLst>
            <a:outerShdw blurRad="38100" dist="12700" dir="162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680960" y="1828800"/>
            <a:ext cx="1280160" cy="7315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Top-K检索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200400"/>
            <a:ext cx="8229600" cy="1371600"/>
          </a:xfrm>
          <a:prstGeom prst="roundRect">
            <a:avLst>
              <a:gd name="adj" fmla="val 6667"/>
            </a:avLst>
          </a:prstGeom>
          <a:solidFill>
            <a:srgbClr val="F0F4F8"/>
          </a:solidFill>
        </p:spPr>
      </p:sp>
      <p:sp>
        <p:nvSpPr>
          <p:cNvPr id="21" name="Text 19"/>
          <p:cNvSpPr/>
          <p:nvPr/>
        </p:nvSpPr>
        <p:spPr>
          <a:xfrm>
            <a:off x="640080" y="3383280"/>
            <a:ext cx="7863840" cy="109728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流程说明：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从JSON文件读取地震应急知识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按主题分块处理文本内容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使用BGE模型编码为向量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存储至Milvus向量数据库，支持相似度检索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0"/>
          <p:cNvGraphicFramePr/>
          <p:nvPr/>
        </p:nvGraphicFramePr>
        <p:xfrm>
          <a:off x="914400" y="1097280"/>
          <a:ext cx="73152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3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3200" b="1" kern="0" spc="150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实验结果对比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457200" y="4389120"/>
            <a:ext cx="8229600" cy="548640"/>
          </a:xfrm>
          <a:prstGeom prst="roundRect">
            <a:avLst>
              <a:gd name="adj" fmla="val 16667"/>
            </a:avLst>
          </a:prstGeom>
          <a:solidFill>
            <a:srgbClr val="1E3A5F"/>
          </a:solidFill>
        </p:spPr>
      </p:sp>
      <p:sp>
        <p:nvSpPr>
          <p:cNvPr id="5" name="Text 2"/>
          <p:cNvSpPr/>
          <p:nvPr/>
        </p:nvSpPr>
        <p:spPr>
          <a:xfrm>
            <a:off x="457200" y="4389120"/>
            <a:ext cx="8229600" cy="5486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全协同方案在三项指标上均最优，准确率达91.2%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3200" b="1" kern="0" spc="150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关键结论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914400" y="1188720"/>
            <a:ext cx="731520" cy="731520"/>
          </a:xfrm>
          <a:prstGeom prst="ellipse">
            <a:avLst/>
          </a:prstGeom>
          <a:solidFill>
            <a:srgbClr val="E85D04"/>
          </a:solidFill>
        </p:spPr>
      </p:sp>
      <p:sp>
        <p:nvSpPr>
          <p:cNvPr id="4" name="Text 2"/>
          <p:cNvSpPr/>
          <p:nvPr/>
        </p:nvSpPr>
        <p:spPr>
          <a:xfrm>
            <a:off x="914400" y="1188720"/>
            <a:ext cx="731520" cy="7315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828800" y="1325880"/>
            <a:ext cx="6400800" cy="5486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知识图谱提供可验证事实，解决大模型幻觉问题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14400" y="2286000"/>
            <a:ext cx="731520" cy="731520"/>
          </a:xfrm>
          <a:prstGeom prst="ellipse">
            <a:avLst/>
          </a:prstGeom>
          <a:solidFill>
            <a:srgbClr val="E85D04"/>
          </a:solidFill>
        </p:spPr>
      </p:sp>
      <p:sp>
        <p:nvSpPr>
          <p:cNvPr id="7" name="Text 5"/>
          <p:cNvSpPr/>
          <p:nvPr/>
        </p:nvSpPr>
        <p:spPr>
          <a:xfrm>
            <a:off x="914400" y="2286000"/>
            <a:ext cx="731520" cy="7315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828800" y="2423160"/>
            <a:ext cx="6400800" cy="5486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RAG补充语义表述，提升回答完整性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14400" y="3383280"/>
            <a:ext cx="731520" cy="731520"/>
          </a:xfrm>
          <a:prstGeom prst="ellipse">
            <a:avLst/>
          </a:prstGeom>
          <a:solidFill>
            <a:srgbClr val="E85D04"/>
          </a:solidFill>
        </p:spPr>
      </p:sp>
      <p:sp>
        <p:nvSpPr>
          <p:cNvPr id="10" name="Text 8"/>
          <p:cNvSpPr/>
          <p:nvPr/>
        </p:nvSpPr>
        <p:spPr>
          <a:xfrm>
            <a:off x="914400" y="3383280"/>
            <a:ext cx="731520" cy="7315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828800" y="3520440"/>
            <a:ext cx="6400800" cy="54864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协同机制优于单一方案，全协同达91.2%准确率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3200" b="1" kern="0" spc="150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总结与展望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effectLst>
            <a:outerShdw blurRad="50800" dist="254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280160"/>
            <a:ext cx="3566160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工作总结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3566160" cy="2560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提出知识图谱与RAG协同机制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设计左侧截断保尾策略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实现完整离线部署方案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实验验证达到91.2%准确率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754880" y="1097280"/>
            <a:ext cx="3931920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effectLst>
            <a:outerShdw blurRad="50800" dist="254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937760" y="1280160"/>
            <a:ext cx="3566160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E85D0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未来展望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937760" y="1828800"/>
            <a:ext cx="3566160" cy="256032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扩展多模态知识融合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优化实时响应性能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推广至其他应急领域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1828800"/>
            <a:ext cx="2743200" cy="0"/>
          </a:xfrm>
          <a:prstGeom prst="line">
            <a:avLst/>
          </a:prstGeom>
          <a:noFill/>
          <a:ln w="38100">
            <a:solidFill>
              <a:srgbClr val="E85D0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103120"/>
            <a:ext cx="8229600" cy="9144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4400" b="1" kern="0" spc="25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谢谢聆听！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F0F4F8"/>
                </a:solidFill>
                <a:latin typeface="Georgia" panose="02040502050405090303" pitchFamily="34" charset="0"/>
                <a:ea typeface="Georgia" panose="02040502050405090303" pitchFamily="34" charset="-122"/>
                <a:cs typeface="Georgia" panose="02040502050405090303" pitchFamily="34" charset="-120"/>
              </a:rPr>
              <a:t>敬请批评指正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刘一江 | 华东师范大学 计算机学院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1137</Words>
  <Application>WPS 演示</Application>
  <PresentationFormat>On-screen Show (16:9)</PresentationFormat>
  <Paragraphs>243</Paragraphs>
  <Slides>14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25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40" baseType="lpstr">
      <vt:lpstr>Arial</vt:lpstr>
      <vt:lpstr>宋体</vt:lpstr>
      <vt:lpstr>Wingdings</vt:lpstr>
      <vt:lpstr>Cambria</vt:lpstr>
      <vt:lpstr>苹方-简</vt:lpstr>
      <vt:lpstr>Cambria</vt:lpstr>
      <vt:lpstr>Cambria</vt:lpstr>
      <vt:lpstr>Georgia</vt:lpstr>
      <vt:lpstr>Georgia</vt:lpstr>
      <vt:lpstr>Georgia</vt:lpstr>
      <vt:lpstr>Calibri</vt:lpstr>
      <vt:lpstr>Calibri</vt:lpstr>
      <vt:lpstr>Calibri</vt:lpstr>
      <vt:lpstr>Arial</vt:lpstr>
      <vt:lpstr>宋体</vt:lpstr>
      <vt:lpstr>汉仪书宋二KW</vt:lpstr>
      <vt:lpstr>Helvetica Neue</vt:lpstr>
      <vt:lpstr>宋体</vt:lpstr>
      <vt:lpstr>微软雅黑</vt:lpstr>
      <vt:lpstr>汉仪旗黑</vt:lpstr>
      <vt:lpstr>Arial Unicode MS</vt:lpstr>
      <vt:lpstr>等线</vt:lpstr>
      <vt:lpstr>汉仪中等线KW</vt:lpstr>
      <vt:lpstr>Apple Color Emoji</vt:lpstr>
      <vt:lpstr>儷宋 Pro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基于知识图谱与向量检索协同的地震应急问答方法研究</dc:title>
  <dc:creator>刘一江</dc:creator>
  <dc:subject>PptxGenJS Presentation</dc:subject>
  <cp:lastModifiedBy>刘一江</cp:lastModifiedBy>
  <cp:revision>4</cp:revision>
  <dcterms:created xsi:type="dcterms:W3CDTF">2026-05-11T01:04:12Z</dcterms:created>
  <dcterms:modified xsi:type="dcterms:W3CDTF">2026-05-11T01:04:12Z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2052-12.1.24031.24031</vt:lpwstr>
  </property>
  <property fmtid="{D5CDD505-2E9C-101B-9397-08002B2CF9AE}" pid="3" name="ICV">
    <vt:lpwstr>8D5EDA4597084AE00C2B016ABD0883BA_43</vt:lpwstr>
  </property>
</Properties>
</file>